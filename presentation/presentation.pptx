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5544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5BB5BE"/>
                </a:solidFill>
                <a:latin typeface="Cambria"/>
              </a:rPr>
              <a:t>XAI 509 Course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mbria"/>
              </a:rPr>
              <a:t>Wav2Vec2 CTC Fine-Tuning with</a:t>
            </a:r>
          </a:p>
          <a:p>
            <a:pPr algn="ctr"/>
            <a:r>
              <a:rPr sz="3600" b="1">
                <a:solidFill>
                  <a:srgbClr val="FFFFFF"/>
                </a:solidFill>
                <a:latin typeface="Cambria"/>
              </a:rPr>
              <a:t>Output-Distribution Regularization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E8A87C"/>
                </a:solidFill>
                <a:latin typeface="Cambria"/>
              </a:rPr>
              <a:t>LibriSpeech 1-hour Fine-tuning · Maximum Entropy vs Label Smoothing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5BB5BE"/>
                </a:solidFill>
                <a:latin typeface="Cambria"/>
              </a:rPr>
              <a:t>Student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Speech Language Processing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749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Korea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  <a:latin typeface="Cambria"/>
              </a:rP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5BB5BE"/>
                </a:solidFill>
                <a:latin typeface="Cambria"/>
              </a:rP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47120" cy="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64008" cy="320040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1031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mbria"/>
              </a:rPr>
              <a:t>Background &amp;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10896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1089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mbria"/>
              </a:rPr>
              <a:t>Two Regularization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1148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1148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mbria"/>
              </a:rPr>
              <a:t>Experimental Setup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011680"/>
            <a:ext cx="8000" cy="3200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10312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1031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mbria"/>
              </a:rPr>
              <a:t>Main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10896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1089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mbria"/>
              </a:rPr>
              <a:t>MaxEnt + LS Sweeps &amp;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1148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1148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mbria"/>
              </a:rPr>
              <a:t>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XAI 509 — Wav2Vec2 CTC Fine-Tuning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5BB5BE"/>
                </a:solidFill>
                <a:latin typeface="Cambria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" cy="32004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Wav2Vec2 CTC Fine-Tuning + Regularization on LibriSpeech 1h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07008"/>
            <a:ext cx="11247120" cy="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577840" cy="1463040"/>
          </a:xfrm>
          <a:prstGeom prst="roundRect">
            <a:avLst>
              <a:gd name="adj" fmla="val 8000"/>
            </a:avLst>
          </a:prstGeom>
          <a:solidFill>
            <a:srgbClr val="4E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B5BE"/>
                </a:solidFill>
                <a:latin typeface="Cambria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Fine-tune </a:t>
            </a:r>
            <a:r>
              <a:rPr sz="1400" b="1" i="0">
                <a:solidFill>
                  <a:srgbClr val="E8A87C"/>
                </a:solidFill>
                <a:latin typeface="Calibri"/>
              </a:rPr>
              <a:t>Wav2Vec2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with the </a:t>
            </a:r>
            <a:r>
              <a:rPr sz="1400" b="1" i="0">
                <a:solidFill>
                  <a:srgbClr val="E8A87C"/>
                </a:solidFill>
                <a:latin typeface="Calibri"/>
              </a:rPr>
              <a:t>CTC loss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on a small (1-hour) LibriSpeech subset and report WER on test-clean / test-other.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4E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B5BE"/>
                </a:solidFill>
                <a:latin typeface="Cambria"/>
              </a:rPr>
              <a:t>Core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Small fine-tuning data → </a:t>
            </a:r>
            <a:r>
              <a:rPr sz="1400" b="1" i="0">
                <a:solidFill>
                  <a:srgbClr val="E96379"/>
                </a:solidFill>
                <a:latin typeface="Calibri"/>
              </a:rPr>
              <a:t>over-confidence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. Compare two output-distribution regularizers: </a:t>
            </a:r>
            <a:r>
              <a:rPr sz="1400" b="1" i="0">
                <a:solidFill>
                  <a:srgbClr val="E8A87C"/>
                </a:solidFill>
                <a:latin typeface="Calibri"/>
              </a:rPr>
              <a:t>Maximum Entropy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and </a:t>
            </a:r>
            <a:r>
              <a:rPr sz="1400" b="1" i="0">
                <a:solidFill>
                  <a:srgbClr val="E8A87C"/>
                </a:solidFill>
                <a:latin typeface="Calibri"/>
              </a:rPr>
              <a:t>Label Smoothing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11247120" cy="1554480"/>
          </a:xfrm>
          <a:prstGeom prst="roundRect">
            <a:avLst>
              <a:gd name="adj" fmla="val 8000"/>
            </a:avLst>
          </a:prstGeom>
          <a:solidFill>
            <a:srgbClr val="4E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B5BE"/>
                </a:solidFill>
                <a:latin typeface="Cambria"/>
              </a:rPr>
              <a:t>Key Finding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033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Both regularizers improve over baseline. </a:t>
            </a:r>
            <a:r>
              <a:rPr sz="1400" b="1" i="0">
                <a:solidFill>
                  <a:srgbClr val="F5C86E"/>
                </a:solidFill>
                <a:latin typeface="Calibri"/>
              </a:rPr>
              <a:t>Label Smoothing (α=0.10) achieves the best WER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— clean </a:t>
            </a:r>
            <a:r>
              <a:rPr sz="1400" b="1" i="0">
                <a:solidFill>
                  <a:srgbClr val="E8A87C"/>
                </a:solidFill>
                <a:latin typeface="Calibri"/>
              </a:rPr>
              <a:t>19.51 %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(−1.65 pp), other </a:t>
            </a:r>
            <a:r>
              <a:rPr sz="1400" b="1" i="0">
                <a:solidFill>
                  <a:srgbClr val="E8A87C"/>
                </a:solidFill>
                <a:latin typeface="Calibri"/>
              </a:rPr>
              <a:t>28.30 %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(−1.87 pp), outperforming both baseline CTC and Maximum Entropy training.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11247120" cy="1188720"/>
          </a:xfrm>
          <a:prstGeom prst="roundRect">
            <a:avLst>
              <a:gd name="adj" fmla="val 8000"/>
            </a:avLst>
          </a:prstGeom>
          <a:solidFill>
            <a:srgbClr val="4E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B5BE"/>
                </a:solidFill>
                <a:latin typeface="Cambria"/>
              </a:rPr>
              <a:t>Scope / Limitation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40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Only α = 0.10 swept for label smoothing; MaxEnt has 5-point λ sweep. </a:t>
            </a:r>
            <a:r>
              <a:rPr sz="1300" b="0" i="1">
                <a:solidFill>
                  <a:srgbClr val="CCCCCC"/>
                </a:solidFill>
                <a:latin typeface="Calibri"/>
              </a:rPr>
              <a:t>Single-seed experiments.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XAI 509 — Wav2Vec2 CTC Fine-Tuning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5BB5BE"/>
                </a:solidFill>
                <a:latin typeface="Cambria"/>
              </a:rP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" cy="32004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Wav2Vec 2.0 + CTC for ASR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07008"/>
            <a:ext cx="11247120" cy="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A87C"/>
                </a:solidFill>
                <a:latin typeface="Cambria"/>
              </a:rPr>
              <a:t>Wav2Vec 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B5BE"/>
                </a:solidFill>
                <a:latin typeface="Calibri"/>
              </a:rP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Self-supervised speech representation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B5BE"/>
                </a:solidFill>
                <a:latin typeface="Calibri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Pretrained on 53k hours of unlabeled audio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B5BE"/>
                </a:solidFill>
                <a:latin typeface="Calibri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CNN feature encoder → Transformer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B5BE"/>
                </a:solidFill>
                <a:latin typeface="Calibri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Fine-tunable for downstream ASR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A87C"/>
                </a:solidFill>
                <a:latin typeface="Cambria"/>
              </a:rPr>
              <a:t>CTC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828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B5BE"/>
                </a:solidFill>
                <a:latin typeface="Calibri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No frame-level alignment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317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B5BE"/>
                </a:solidFill>
                <a:latin typeface="Calibri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331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Marginalizes over all valid alignments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8346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B5BE"/>
                </a:solidFill>
                <a:latin typeface="Calibri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834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WER = (S + I + D) / 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3375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B5BE"/>
                </a:solidFill>
                <a:latin typeface="Calibri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337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Lower WER = better recognition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80560"/>
            <a:ext cx="11247120" cy="1645920"/>
          </a:xfrm>
          <a:prstGeom prst="roundRect">
            <a:avLst>
              <a:gd name="adj" fmla="val 8000"/>
            </a:avLst>
          </a:prstGeom>
          <a:solidFill>
            <a:srgbClr val="4E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B5BE"/>
                </a:solidFill>
                <a:latin typeface="Cambria"/>
              </a:rPr>
              <a:t>Why this project?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Fine-tuning Wav2Vec2 on just </a:t>
            </a:r>
            <a:r>
              <a:rPr sz="1400" b="1" i="0">
                <a:solidFill>
                  <a:srgbClr val="E8A87C"/>
                </a:solidFill>
                <a:latin typeface="Calibri"/>
              </a:rPr>
              <a:t>1 hour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of speech is challenging — the model can become </a:t>
            </a:r>
            <a:r>
              <a:rPr sz="1400" b="1" i="0">
                <a:solidFill>
                  <a:srgbClr val="E96379"/>
                </a:solidFill>
                <a:latin typeface="Calibri"/>
              </a:rPr>
              <a:t>over-confident on training data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, producing sharp output distributions that fail to generalize to </a:t>
            </a:r>
            <a:r>
              <a:rPr sz="1400" b="1" i="0">
                <a:solidFill>
                  <a:srgbClr val="E8A87C"/>
                </a:solidFill>
                <a:latin typeface="Calibri"/>
              </a:rPr>
              <a:t>test-clean / test-other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XAI 509 — Wav2Vec2 CTC Fine-Tuning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5BB5BE"/>
                </a:solidFill>
                <a:latin typeface="Cambria"/>
              </a:rPr>
              <a:t>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" cy="32004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Two Regularization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07008"/>
            <a:ext cx="11247120" cy="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Both methods penalize sharp output distributions, but apply different weighting schemes.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74519"/>
            <a:ext cx="5577840" cy="4114800"/>
          </a:xfrm>
          <a:prstGeom prst="roundRect">
            <a:avLst>
              <a:gd name="adj" fmla="val 8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5BB5BE"/>
                </a:solidFill>
                <a:latin typeface="Cambria"/>
              </a:rPr>
              <a:t>Maximum Entropy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onsolas"/>
              </a:rPr>
              <a:t>Loss = CTC  −  λ · H(p)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A87C"/>
                </a:solidFill>
                <a:latin typeface="Consolas"/>
              </a:rPr>
              <a:t>H(p) = −Σ pᵥ log pᵥ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C86E"/>
                </a:solidFill>
                <a:latin typeface="Calibri"/>
              </a:rPr>
              <a:t>Properties: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B5BE"/>
                </a:solidFill>
                <a:latin typeface="Calibr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931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Weights penalty by predicted probability 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B5BE"/>
                </a:solidFill>
                <a:latin typeface="Calibr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43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Pushes confident tokens toward uniform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B5BE"/>
                </a:solidFill>
                <a:latin typeface="Calibri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54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Listed in lecture 8 "Topics You Can Try"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74519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96379"/>
                </a:solidFill>
                <a:latin typeface="Cambria"/>
              </a:rPr>
              <a:t>Label Smoothing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14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onsolas"/>
              </a:rPr>
              <a:t>Loss = (1−α) · CTC  +  α · LS(p)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71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A87C"/>
                </a:solidFill>
                <a:latin typeface="Consolas"/>
              </a:rPr>
              <a:t>LS(p) = −(1/V) Σ log pᵥ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5204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C86E"/>
                </a:solidFill>
                <a:latin typeface="Calibri"/>
              </a:rPr>
              <a:t>Properties: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931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6379"/>
                </a:solidFill>
                <a:latin typeface="Calibri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931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Weights penalty uniformly across vocab (1/V)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3434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6379"/>
                </a:solidFill>
                <a:latin typeface="Calibri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343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Equivalent to KL(uniform ∥ p) up to constant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7548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96379"/>
                </a:solidFill>
                <a:latin typeface="Calibri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754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Reported as part of lab's MoChA paper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5C86E"/>
                </a:solidFill>
                <a:latin typeface="Cambria"/>
              </a:rPr>
              <a:t>→ Closely related (Pereyra et al. 2017) but mathematically distinct.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XAI 509 — Wav2Vec2 CTC Fine-Tuning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5BB5BE"/>
                </a:solidFill>
                <a:latin typeface="Cambria"/>
              </a:rPr>
              <a:t>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" cy="32004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07008"/>
            <a:ext cx="11247120" cy="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475488"/>
          </a:xfrm>
          <a:prstGeom prst="rect">
            <a:avLst/>
          </a:prstGeom>
          <a:solidFill>
            <a:srgbClr val="4E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BB5BE"/>
                </a:solidFill>
                <a:latin typeface="Calibri"/>
              </a:rPr>
              <a:t>Pretrained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2763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facebook/wav2vec2-base (95M params)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11247120" cy="475488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305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BB5BE"/>
                </a:solidFill>
                <a:latin typeface="Calibri"/>
              </a:rPr>
              <a:t>Train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3055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LibriLight 1-hour subset (WebDataset, 5 shards)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47120" cy="475488"/>
          </a:xfrm>
          <a:prstGeom prst="rect">
            <a:avLst/>
          </a:prstGeom>
          <a:solidFill>
            <a:srgbClr val="4E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334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BB5BE"/>
                </a:solidFill>
                <a:latin typeface="Calibri"/>
              </a:rPr>
              <a:t>Eval 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3347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test-clean (2620 utt) / test-other (2939 utt)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11247120" cy="475488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363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BB5BE"/>
                </a:solidFill>
                <a:latin typeface="Calibri"/>
              </a:rPr>
              <a:t>Training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13639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2000 (~222 epochs on 1h set)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66160"/>
            <a:ext cx="11247120" cy="475488"/>
          </a:xfrm>
          <a:prstGeom prst="rect">
            <a:avLst/>
          </a:prstGeom>
          <a:solidFill>
            <a:srgbClr val="4E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393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BB5BE"/>
                </a:solidFill>
                <a:latin typeface="Calibri"/>
              </a:rPr>
              <a:t>Optimizer / LR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63931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AdamW, lr=1e-4, warmup 500 steps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11247120" cy="475488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422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BB5BE"/>
                </a:solidFill>
                <a:latin typeface="Calibri"/>
              </a:rPr>
              <a:t>Batch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14223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16 × grad_accum 2 = effective 32, fp16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72000"/>
            <a:ext cx="11247120" cy="475488"/>
          </a:xfrm>
          <a:prstGeom prst="rect">
            <a:avLst/>
          </a:prstGeom>
          <a:solidFill>
            <a:srgbClr val="4E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451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BB5BE"/>
                </a:solidFill>
                <a:latin typeface="Calibri"/>
              </a:rPr>
              <a:t>Frozen modules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64515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CNN feature encoder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74920"/>
            <a:ext cx="11247120" cy="475488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480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5BB5BE"/>
                </a:solidFill>
                <a:latin typeface="Calibri"/>
              </a:rPr>
              <a:t>Hardware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14807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RTX 3090 (24 GB), ~35 min per 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5C86E"/>
                </a:solidFill>
                <a:latin typeface="Cambria"/>
              </a:rPr>
              <a:t>Each variant (baseline / MaxEnt λ / Label Smoothing α) trained with identical settings for fair comparison.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XAI 509 — Wav2Vec2 CTC Fine-Tuning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5BB5BE"/>
                </a:solidFill>
                <a:latin typeface="Cambria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" cy="32004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Main Comparison — Word Error Rate (%)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07008"/>
            <a:ext cx="11247120" cy="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502920"/>
          </a:xfrm>
          <a:prstGeom prst="rect">
            <a:avLst/>
          </a:prstGeom>
          <a:solidFill>
            <a:srgbClr val="33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6276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test-clean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62763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test-other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162763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Δ vs 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11247120" cy="59436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219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Baseline (CTC only)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2219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21.16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2219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30.17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222199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999999"/>
                </a:solidFill>
                <a:latin typeface="Consolas"/>
              </a:rP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11247120" cy="59436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6207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Maximum Entropy (best, λ = 0.15)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8620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19.88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8620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28.63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286207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5BB5BE"/>
                </a:solidFill>
                <a:latin typeface="Consolas"/>
              </a:rPr>
              <a:t>−1.54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83279"/>
            <a:ext cx="11247120" cy="594360"/>
          </a:xfrm>
          <a:prstGeom prst="rect">
            <a:avLst/>
          </a:prstGeom>
          <a:solidFill>
            <a:srgbClr val="4A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02151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C86E"/>
                </a:solidFill>
                <a:latin typeface="Calibri"/>
              </a:rPr>
              <a:t>Label Smoothing (best, α = 0.10)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502151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E8A87C"/>
                </a:solidFill>
                <a:latin typeface="Consolas"/>
              </a:rPr>
              <a:t>19.51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502151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E8A87C"/>
                </a:solidFill>
                <a:latin typeface="Consolas"/>
              </a:rPr>
              <a:t>28.30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3502151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5BB5BE"/>
                </a:solidFill>
                <a:latin typeface="Consolas"/>
              </a:rPr>
              <a:t>−1.87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11247120" cy="1554480"/>
          </a:xfrm>
          <a:prstGeom prst="roundRect">
            <a:avLst>
              <a:gd name="adj" fmla="val 8000"/>
            </a:avLst>
          </a:prstGeom>
          <a:solidFill>
            <a:srgbClr val="4E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B5BE"/>
                </a:solidFill>
                <a:latin typeface="Cambria"/>
              </a:rPr>
              <a:t>Takeaways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206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● Both regularizers beat baseline by </a:t>
            </a:r>
            <a:r>
              <a:rPr sz="1400" b="1" i="0">
                <a:solidFill>
                  <a:srgbClr val="E8A87C"/>
                </a:solidFill>
                <a:latin typeface="Calibri"/>
              </a:rPr>
              <a:t>&gt; 1.5 pp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on both splits (best operating points).
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● Label Smoothing (α=0.10) is the overall winner — </a:t>
            </a:r>
            <a:r>
              <a:rPr sz="1400" b="1" i="0">
                <a:solidFill>
                  <a:srgbClr val="F5C86E"/>
                </a:solidFill>
                <a:latin typeface="Calibri"/>
              </a:rPr>
              <a:t>0.37 pp (clean) / 0.33 pp (other) ahead of MaxEnt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.
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● Each curve was tuned by a full sweep (next slides): </a:t>
            </a:r>
            <a:r>
              <a:rPr sz="1400" b="1" i="0">
                <a:solidFill>
                  <a:srgbClr val="E96379"/>
                </a:solidFill>
                <a:latin typeface="Calibri"/>
              </a:rPr>
              <a:t>LS peaks sharply at 0.10, MaxEnt plateaus at 0.15–0.20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XAI 509 — Wav2Vec2 CTC Fine-Tuning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5BB5BE"/>
                </a:solidFill>
                <a:latin typeface="Cambria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" cy="32004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Maximum Entropy — λ Sweep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07008"/>
            <a:ext cx="11247120" cy="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943600" cy="502920"/>
          </a:xfrm>
          <a:prstGeom prst="rect">
            <a:avLst/>
          </a:prstGeom>
          <a:solidFill>
            <a:srgbClr val="33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6276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test-clean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276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test-other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03120"/>
            <a:ext cx="5943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48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0.00 (baseline)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1488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21.16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488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30.17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60320"/>
            <a:ext cx="5943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606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0.01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606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20.60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06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29.67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017520"/>
            <a:ext cx="5943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0632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0.03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20.79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29.65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474720"/>
            <a:ext cx="5943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5204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0.05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3520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21.21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520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30.46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931920"/>
            <a:ext cx="5943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9776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0.07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39776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20.93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9776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29.80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389120"/>
            <a:ext cx="5943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434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0.10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44348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19.93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4348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28.80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846320"/>
            <a:ext cx="5943600" cy="420624"/>
          </a:xfrm>
          <a:prstGeom prst="rect">
            <a:avLst/>
          </a:prstGeom>
          <a:solidFill>
            <a:srgbClr val="4A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892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5C86E"/>
                </a:solidFill>
                <a:latin typeface="Consolas"/>
              </a:rPr>
              <a:t>0.15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4892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8A87C"/>
                </a:solidFill>
                <a:latin typeface="Consolas"/>
              </a:rPr>
              <a:t>19.88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892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8A87C"/>
                </a:solidFill>
                <a:latin typeface="Consolas"/>
              </a:rPr>
              <a:t>28.63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303520"/>
            <a:ext cx="5943600" cy="420624"/>
          </a:xfrm>
          <a:prstGeom prst="rect">
            <a:avLst/>
          </a:prstGeom>
          <a:solidFill>
            <a:srgbClr val="4A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3492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5C86E"/>
                </a:solidFill>
                <a:latin typeface="Consolas"/>
              </a:rPr>
              <a:t>0.20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5349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8A87C"/>
                </a:solidFill>
                <a:latin typeface="Consolas"/>
              </a:rPr>
              <a:t>20.09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5349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8A87C"/>
                </a:solidFill>
                <a:latin typeface="Consolas"/>
              </a:rPr>
              <a:t>28.60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49440" y="1554480"/>
            <a:ext cx="4754880" cy="4114800"/>
          </a:xfrm>
          <a:prstGeom prst="roundRect">
            <a:avLst>
              <a:gd name="adj" fmla="val 8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0" y="1691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B5BE"/>
                </a:solidFill>
                <a:latin typeface="Cambria"/>
              </a:rPr>
              <a:t>Observations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21945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A87C"/>
                </a:solidFill>
                <a:latin typeface="Calibri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21945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A87C"/>
                </a:solidFill>
                <a:latin typeface="Calibri"/>
              </a:rPr>
              <a:t>Small λ (0.01–0.03)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gives modest improvement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26974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A87C"/>
                </a:solidFill>
                <a:latin typeface="Calibri"/>
              </a:rPr>
              <a:t>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26974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A87C"/>
                </a:solidFill>
                <a:latin typeface="Calibri"/>
              </a:rPr>
              <a:t>λ = 0.05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dips — a noisy bump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8040" y="32004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A87C"/>
                </a:solidFill>
                <a:latin typeface="Calibri"/>
              </a:rPr>
              <a:t>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32004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A87C"/>
                </a:solidFill>
                <a:latin typeface="Calibri"/>
              </a:rPr>
              <a:t>λ = 0.10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strong, but not the best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37033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A87C"/>
                </a:solidFill>
                <a:latin typeface="Calibri"/>
              </a:rPr>
              <a:t>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37033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A87C"/>
                </a:solidFill>
                <a:latin typeface="Calibri"/>
              </a:rPr>
              <a:t>λ = 0.15–0.20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lowest WER (flat optimum)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4434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C86E"/>
                </a:solidFill>
                <a:latin typeface="Cambria"/>
              </a:rPr>
              <a:t>Best operating point: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4800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onsolas"/>
              </a:rPr>
              <a:t>λ = 0.15 → 19.88 / 28.63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5166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mbria"/>
              </a:rPr>
              <a:t>Broad optimum → robust to λ choice.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Calibri"/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XAI 509 — Wav2Vec2 CTC Fine-Tuning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5BB5BE"/>
                </a:solidFill>
                <a:latin typeface="Cambria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" cy="32004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Label Smoothing — α Sweep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07008"/>
            <a:ext cx="11247120" cy="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943600" cy="502920"/>
          </a:xfrm>
          <a:prstGeom prst="rect">
            <a:avLst/>
          </a:prstGeom>
          <a:solidFill>
            <a:srgbClr val="335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6276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test-clean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2763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test-other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03120"/>
            <a:ext cx="5943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48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0.00 (baseline)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1488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21.16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488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30.17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60320"/>
            <a:ext cx="5943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606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0.01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606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20.90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06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30.15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017520"/>
            <a:ext cx="5943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0632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0.03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20.71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063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29.98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474720"/>
            <a:ext cx="5943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5204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0.05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3520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21.43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5204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30.09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931920"/>
            <a:ext cx="5943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9776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0.07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39776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20.91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9776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29.75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389120"/>
            <a:ext cx="5943600" cy="420624"/>
          </a:xfrm>
          <a:prstGeom prst="rect">
            <a:avLst/>
          </a:prstGeom>
          <a:solidFill>
            <a:srgbClr val="4A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434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5C86E"/>
                </a:solidFill>
                <a:latin typeface="Consolas"/>
              </a:rPr>
              <a:t>0.10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44348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8A87C"/>
                </a:solidFill>
                <a:latin typeface="Consolas"/>
              </a:rPr>
              <a:t>19.51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4348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8A87C"/>
                </a:solidFill>
                <a:latin typeface="Consolas"/>
              </a:rPr>
              <a:t>28.30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846320"/>
            <a:ext cx="5943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892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0.15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4892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20.16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892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29.39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303520"/>
            <a:ext cx="5943600" cy="42062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3492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0.20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5349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20.69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53492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29.43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49440" y="1554480"/>
            <a:ext cx="4754880" cy="4114800"/>
          </a:xfrm>
          <a:prstGeom prst="roundRect">
            <a:avLst>
              <a:gd name="adj" fmla="val 8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0" y="1691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BB5BE"/>
                </a:solidFill>
                <a:latin typeface="Cambria"/>
              </a:rPr>
              <a:t>Observations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21945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96379"/>
                </a:solidFill>
                <a:latin typeface="Calibri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21945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96379"/>
                </a:solidFill>
                <a:latin typeface="Calibri"/>
              </a:rPr>
              <a:t>α ≤ 0.07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only marginal gains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26974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96379"/>
                </a:solidFill>
                <a:latin typeface="Calibri"/>
              </a:rPr>
              <a:t>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26974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96379"/>
                </a:solidFill>
                <a:latin typeface="Calibri"/>
              </a:rPr>
              <a:t>α = 0.10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sharp minimum — best by far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8040" y="32004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96379"/>
                </a:solidFill>
                <a:latin typeface="Calibri"/>
              </a:rPr>
              <a:t>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32004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96379"/>
                </a:solidFill>
                <a:latin typeface="Calibri"/>
              </a:rPr>
              <a:t>α ≥ 0.15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regresses again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37033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96379"/>
                </a:solidFill>
                <a:latin typeface="Calibri"/>
              </a:rPr>
              <a:t>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37033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96379"/>
                </a:solidFill>
                <a:latin typeface="Calibri"/>
              </a:rPr>
              <a:t>Sharp U-curve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→ sensitive to 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4434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C86E"/>
                </a:solidFill>
                <a:latin typeface="Cambria"/>
              </a:rPr>
              <a:t>Best operating point: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4800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onsolas"/>
              </a:rPr>
              <a:t>α = 0.10 → 19.51 / 28.30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5166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mbria"/>
              </a:rPr>
              <a:t>Overall best of all configs.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Calibri"/>
              </a:rP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XAI 509 — Wav2Vec2 CTC Fine-Tuning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5BB5BE"/>
                </a:solidFill>
                <a:latin typeface="Cambria"/>
              </a:rPr>
              <a:t>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54864" cy="320040"/>
          </a:xfrm>
          <a:prstGeom prst="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Why Label Smoothing &gt; MaxEnt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07008"/>
            <a:ext cx="11247120" cy="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11247120" cy="1463040"/>
          </a:xfrm>
          <a:prstGeom prst="roundRect">
            <a:avLst>
              <a:gd name="adj" fmla="val 8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BB5BE"/>
                </a:solidFill>
                <a:latin typeface="Cambria"/>
              </a:rPr>
              <a:t>Same family, different weighting: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8A87C"/>
                </a:solidFill>
                <a:latin typeface="Calibri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A87C"/>
                </a:solidFill>
                <a:latin typeface="Calibri"/>
              </a:rPr>
              <a:t>MaxEnt: </a:t>
            </a:r>
            <a:r>
              <a:rPr sz="1400" b="0" i="0">
                <a:solidFill>
                  <a:srgbClr val="FFFFFF"/>
                </a:solidFill>
                <a:latin typeface="Consolas"/>
              </a:rPr>
              <a:t>H(p) = −Σ pᵥ log pᵥ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  →  weights by pᵥ — already-confident tokens get pushed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96379"/>
                </a:solidFill>
                <a:latin typeface="Calibri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23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96379"/>
                </a:solidFill>
                <a:latin typeface="Calibri"/>
              </a:rPr>
              <a:t>LS:     </a:t>
            </a:r>
            <a:r>
              <a:rPr sz="1400" b="0" i="0">
                <a:solidFill>
                  <a:srgbClr val="FFFFFF"/>
                </a:solidFill>
                <a:latin typeface="Consolas"/>
              </a:rPr>
              <a:t>LS(p) = −(1/V) Σ log pᵥ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  →  uniform weight across vocab — all tokens regularized equally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108960"/>
            <a:ext cx="11247120" cy="2743200"/>
          </a:xfrm>
          <a:prstGeom prst="roundRect">
            <a:avLst>
              <a:gd name="adj" fmla="val 8000"/>
            </a:avLst>
          </a:prstGeom>
          <a:solidFill>
            <a:srgbClr val="4E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5BB5BE"/>
                </a:solidFill>
                <a:latin typeface="Cambria"/>
              </a:rPr>
              <a:t>Qualitative example (test-clean utterance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C86E"/>
                </a:solidFill>
                <a:latin typeface="Consolas"/>
              </a:rPr>
              <a:t>REF: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033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... THEORY OF </a:t>
            </a:r>
            <a:r>
              <a:rPr sz="1200" b="1" i="0">
                <a:solidFill>
                  <a:srgbClr val="E8A87C"/>
                </a:solidFill>
                <a:latin typeface="Consolas"/>
              </a:rPr>
              <a:t>MEMORY</a:t>
            </a:r>
            <a:r>
              <a:rPr sz="1200" b="0" i="0">
                <a:solidFill>
                  <a:srgbClr val="FFFFFF"/>
                </a:solidFill>
                <a:latin typeface="Consolas"/>
              </a:rPr>
              <a:t> MUST </a:t>
            </a:r>
            <a:r>
              <a:rPr sz="1200" b="1" i="0">
                <a:solidFill>
                  <a:srgbClr val="E8A87C"/>
                </a:solidFill>
                <a:latin typeface="Consolas"/>
              </a:rPr>
              <a:t>ARRIVE</a:t>
            </a:r>
            <a:r>
              <a:rPr sz="1200" b="0" i="0">
                <a:solidFill>
                  <a:srgbClr val="FFFFFF"/>
                </a:solidFill>
                <a:latin typeface="Consolas"/>
              </a:rPr>
              <a:t> AT ... </a:t>
            </a:r>
            <a:r>
              <a:rPr sz="1200" b="1" i="0">
                <a:solidFill>
                  <a:srgbClr val="E8A87C"/>
                </a:solidFill>
                <a:latin typeface="Consolas"/>
              </a:rPr>
              <a:t>VIRTUE</a:t>
            </a:r>
            <a:r>
              <a:rPr sz="1200" b="0" i="0">
                <a:solidFill>
                  <a:srgbClr val="FFFFFF"/>
                </a:solidFill>
                <a:latin typeface="Consolas"/>
              </a:rPr>
              <a:t> ... </a:t>
            </a:r>
            <a:r>
              <a:rPr sz="1200" b="1" i="0">
                <a:solidFill>
                  <a:srgbClr val="E8A87C"/>
                </a:solidFill>
                <a:latin typeface="Consolas"/>
              </a:rPr>
              <a:t>SINGLED OUT</a:t>
            </a:r>
            <a:r>
              <a:rPr sz="1200" b="0" i="0">
                <a:solidFill>
                  <a:srgbClr val="FFFFFF"/>
                </a:solidFill>
                <a:latin typeface="Consolas"/>
              </a:rPr>
              <a:t> 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062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96379"/>
                </a:solidFill>
                <a:latin typeface="Consolas"/>
              </a:rPr>
              <a:t>Baseline: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2062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... THEORY OF MEMERY MUST </a:t>
            </a:r>
            <a:r>
              <a:rPr sz="1200" b="1" i="0">
                <a:solidFill>
                  <a:srgbClr val="E96379"/>
                </a:solidFill>
                <a:latin typeface="Consolas"/>
              </a:rPr>
              <a:t>ARIVE</a:t>
            </a:r>
            <a:r>
              <a:rPr sz="1200" b="0" i="0">
                <a:solidFill>
                  <a:srgbClr val="FFFFFF"/>
                </a:solidFill>
                <a:latin typeface="Consolas"/>
              </a:rPr>
              <a:t> AT ... </a:t>
            </a:r>
            <a:r>
              <a:rPr sz="1200" b="1" i="0">
                <a:solidFill>
                  <a:srgbClr val="E96379"/>
                </a:solidFill>
                <a:latin typeface="Consolas"/>
              </a:rPr>
              <a:t>VERTUE</a:t>
            </a:r>
            <a:r>
              <a:rPr sz="1200" b="0" i="0">
                <a:solidFill>
                  <a:srgbClr val="FFFFFF"/>
                </a:solidFill>
                <a:latin typeface="Consolas"/>
              </a:rPr>
              <a:t> ... </a:t>
            </a:r>
            <a:r>
              <a:rPr sz="1200" b="1" i="0">
                <a:solidFill>
                  <a:srgbClr val="E96379"/>
                </a:solidFill>
                <a:latin typeface="Consolas"/>
              </a:rPr>
              <a:t>SINGLEDOUT</a:t>
            </a:r>
            <a:r>
              <a:rPr sz="1200" b="0" i="0">
                <a:solidFill>
                  <a:srgbClr val="FFFFFF"/>
                </a:solidFill>
                <a:latin typeface="Consolas"/>
              </a:rPr>
              <a:t> 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BB5BE"/>
                </a:solidFill>
                <a:latin typeface="Consolas"/>
              </a:rPr>
              <a:t>LS α=0.10: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091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... THEORY OF MEMERY MUST </a:t>
            </a:r>
            <a:r>
              <a:rPr sz="1200" b="1" i="0">
                <a:solidFill>
                  <a:srgbClr val="5BB5BE"/>
                </a:solidFill>
                <a:latin typeface="Consolas"/>
              </a:rPr>
              <a:t>ARRIVE</a:t>
            </a:r>
            <a:r>
              <a:rPr sz="1200" b="0" i="0">
                <a:solidFill>
                  <a:srgbClr val="FFFFFF"/>
                </a:solidFill>
                <a:latin typeface="Consolas"/>
              </a:rPr>
              <a:t> AT ... </a:t>
            </a:r>
            <a:r>
              <a:rPr sz="1200" b="1" i="0">
                <a:solidFill>
                  <a:srgbClr val="5BB5BE"/>
                </a:solidFill>
                <a:latin typeface="Consolas"/>
              </a:rPr>
              <a:t>VIRTUE</a:t>
            </a:r>
            <a:r>
              <a:rPr sz="1200" b="0" i="0">
                <a:solidFill>
                  <a:srgbClr val="FFFFFF"/>
                </a:solidFill>
                <a:latin typeface="Consolas"/>
              </a:rPr>
              <a:t> ... </a:t>
            </a:r>
            <a:r>
              <a:rPr sz="1200" b="1" i="0">
                <a:solidFill>
                  <a:srgbClr val="5BB5BE"/>
                </a:solidFill>
                <a:latin typeface="Consolas"/>
              </a:rPr>
              <a:t>SINGLED OUT</a:t>
            </a:r>
            <a:r>
              <a:rPr sz="1200" b="0" i="0">
                <a:solidFill>
                  <a:srgbClr val="FFFFFF"/>
                </a:solidFill>
                <a:latin typeface="Consolas"/>
              </a:rPr>
              <a:t> 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5C86E"/>
                </a:solidFill>
                <a:latin typeface="Cambria"/>
              </a:rPr>
              <a:t>→ Spelling errors (ARIVE, VERTUE) and spacing (SINGLEDOUT) corrected by Label Smoothing.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Calibri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XAI 509 — Wav2Vec2 CTC Fine-Tuning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5BB5BE"/>
                </a:solidFill>
                <a:latin typeface="Cambria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47120" cy="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645920"/>
            <a:ext cx="731520" cy="731520"/>
          </a:xfrm>
          <a:prstGeom prst="ellipse">
            <a:avLst/>
          </a:prstGeom>
          <a:solidFill>
            <a:srgbClr val="5BB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09928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463040"/>
            <a:ext cx="10058400" cy="1188720"/>
          </a:xfrm>
          <a:prstGeom prst="roundRect">
            <a:avLst>
              <a:gd name="adj" fmla="val 8000"/>
            </a:avLst>
          </a:prstGeom>
          <a:solidFill>
            <a:srgbClr val="4E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6002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8A87C"/>
                </a:solidFill>
                <a:latin typeface="Cambria"/>
              </a:rPr>
              <a:t>Two regularizers, fully swept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5740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Maximum Entropy (λ, 8 points) and Label Smoothing (α, 7 points), both vs the CTC baseline, all under identical training settings.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063240"/>
            <a:ext cx="731520" cy="731520"/>
          </a:xfrm>
          <a:prstGeom prst="ellipse">
            <a:avLst/>
          </a:prstGeom>
          <a:solidFill>
            <a:srgbClr val="5BB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27248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2880360"/>
            <a:ext cx="10058400" cy="1188720"/>
          </a:xfrm>
          <a:prstGeom prst="roundRect">
            <a:avLst>
              <a:gd name="adj" fmla="val 8000"/>
            </a:avLst>
          </a:prstGeom>
          <a:solidFill>
            <a:srgbClr val="4E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0175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8A87C"/>
                </a:solidFill>
                <a:latin typeface="Cambria"/>
              </a:rPr>
              <a:t>Label Smoothing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47472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Best α=0.10 → 19.51 / 28.30. Beats baseline by −1.65 / −1.87 pp and the best MaxEnt (λ=0.15) by −0.37 / −0.33 pp.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80560"/>
            <a:ext cx="731520" cy="731520"/>
          </a:xfrm>
          <a:prstGeom prst="ellipse">
            <a:avLst/>
          </a:prstGeom>
          <a:solidFill>
            <a:srgbClr val="5BB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44568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4297680"/>
            <a:ext cx="10058400" cy="1188720"/>
          </a:xfrm>
          <a:prstGeom prst="roundRect">
            <a:avLst>
              <a:gd name="adj" fmla="val 8000"/>
            </a:avLst>
          </a:prstGeom>
          <a:solidFill>
            <a:srgbClr val="4E4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4348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8A87C"/>
                </a:solidFill>
                <a:latin typeface="Cambria"/>
              </a:rPr>
              <a:t>Different curve shapes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9204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LS has a sharp optimum at α=0.10 (sensitive); MaxEnt plateaus over λ=0.15–0.20 (robust but lower peak). Gains largest on test-other.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5C86E"/>
                </a:solidFill>
                <a:latin typeface="Cambria"/>
              </a:rPr>
              <a:t>Future: combine LS + MaxEnt, SpecAugment data augmentation, LM shallow fusion, multi-seed runs.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Calibr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Calibri"/>
              </a:rPr>
              <a:t>XAI 509 — Wav2Vec2 CTC Fine-Tuning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5BB5BE"/>
                </a:solidFill>
                <a:latin typeface="Cambria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999999"/>
                </a:solidFill>
                <a:latin typeface="Consolas"/>
              </a:rPr>
              <a:t>Code &amp; results: /run/models/, /run/results/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