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5544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5BB5BE"/>
                </a:solidFill>
                <a:latin typeface="Cambria"/>
              </a:rPr>
              <a:t>XAI 509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mbria"/>
              </a:rPr>
              <a:t>Wav2Vec2 CTC Fine-Tuning with</a:t>
            </a:r>
          </a:p>
          <a:p>
            <a:pPr algn="ctr"/>
            <a:r>
              <a:rPr sz="3600" b="1">
                <a:solidFill>
                  <a:srgbClr val="FFFFFF"/>
                </a:solidFill>
                <a:latin typeface="Cambria"/>
              </a:rPr>
              <a:t>Output-Distribution Regularization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8A87C"/>
                </a:solidFill>
                <a:latin typeface="Cambria"/>
              </a:rPr>
              <a:t>LibriSpeech 1-hour Fine-tuning · Maximum Entropy vs Label Smoothing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3891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B5BE"/>
                </a:solidFill>
                <a:latin typeface="Cambria"/>
              </a:rPr>
              <a:t>Student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Speech Language Processing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0749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Korea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  <a:latin typeface="Cambria"/>
              </a:rPr>
              <a:t>June 11,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64008" cy="3200400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mbria"/>
              </a:rPr>
              <a:t>Background &amp;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089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1089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mbria"/>
              </a:rPr>
              <a:t>Two Regularization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1148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1148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mbria"/>
              </a:rPr>
              <a:t>Experimental Setup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011680"/>
            <a:ext cx="8000" cy="32004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10312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1031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mbria"/>
              </a:rPr>
              <a:t>Main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1089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1089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mbria"/>
              </a:rPr>
              <a:t>MaxEnt λ Sweep &amp;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1148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148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mbria"/>
              </a:rPr>
              <a:t>Summary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54864" cy="320040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Wav2Vec2 CTC Fine-Tuning + Regularization on LibriSpeech 1h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77840" cy="146304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BB5BE"/>
                </a:solidFill>
                <a:latin typeface="Cambria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Fine-tune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Wav2Vec2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with the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CTC loss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on a small (1-hour) LibriSpeech subset and report WER on test-clean / test-other.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486400" cy="146304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BB5BE"/>
                </a:solidFill>
                <a:latin typeface="Cambria"/>
              </a:rPr>
              <a:t>Core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Small fine-tuning data → </a:t>
            </a:r>
            <a:r>
              <a:rPr sz="1400" b="1" i="0">
                <a:solidFill>
                  <a:srgbClr val="E96379"/>
                </a:solidFill>
                <a:latin typeface="Calibri"/>
              </a:rPr>
              <a:t>over-confidence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. Compare two output-distribution regularizers: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Maximum Entropy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and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Label Smoothing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11247120" cy="155448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BB5BE"/>
                </a:solidFill>
                <a:latin typeface="Cambria"/>
              </a:rPr>
              <a:t>Key Finding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033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Both regularizers improve over baseline. </a:t>
            </a:r>
            <a:r>
              <a:rPr sz="1400" b="1" i="0">
                <a:solidFill>
                  <a:srgbClr val="F5C86E"/>
                </a:solidFill>
                <a:latin typeface="Calibri"/>
              </a:rPr>
              <a:t>Label Smoothing (α=0.10) achieves the best WER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— clean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19.51 %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(−1.65 pp), other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28.30 %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(−1.87 pp), outperforming both baseline CTC and Maximum Entropy training.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47120" cy="118872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074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BB5BE"/>
                </a:solidFill>
                <a:latin typeface="Cambria"/>
              </a:rPr>
              <a:t>Scope / 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406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Only α = 0.10 swept for label smoothing; MaxEnt has 5-point λ sweep. </a:t>
            </a:r>
            <a:r>
              <a:rPr sz="1300" b="0" i="1">
                <a:solidFill>
                  <a:srgbClr val="CCCCCC"/>
                </a:solidFill>
                <a:latin typeface="Calibri"/>
              </a:rPr>
              <a:t>Single-seed experiments.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54864" cy="320040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Wav2Vec 2.0 + CTC for ASR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8A87C"/>
                </a:solidFill>
                <a:latin typeface="Cambria"/>
              </a:rPr>
              <a:t>Wav2Vec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Self-supervised speech 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Pretrained on 53k hours of unlabeled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346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CNN feature encoder → Transformer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37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Fine-tunable for downstream ASR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7160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8A87C"/>
                </a:solidFill>
                <a:latin typeface="Cambria"/>
              </a:rPr>
              <a:t>CTC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8288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No frame-level alignment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3317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331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Marginalizes over all valid alignments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8346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WER = (S + I + D) /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3375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37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Lower WER = better recognition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80560"/>
            <a:ext cx="11247120" cy="164592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BB5BE"/>
                </a:solidFill>
                <a:latin typeface="Cambria"/>
              </a:rPr>
              <a:t>Why this project?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Fine-tuning Wav2Vec2 on just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1 hour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of speech is challenging — the model can become </a:t>
            </a:r>
            <a:r>
              <a:rPr sz="1400" b="1" i="0">
                <a:solidFill>
                  <a:srgbClr val="E96379"/>
                </a:solidFill>
                <a:latin typeface="Calibri"/>
              </a:rPr>
              <a:t>over-confident on training data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, producing sharp output distributions that fail to generalize to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test-clean / test-other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54864" cy="320040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Two Regularization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Both methods penalize sharp output distributions, but apply different weighting schemes.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19"/>
            <a:ext cx="5577840" cy="4114800"/>
          </a:xfrm>
          <a:prstGeom prst="roundRect">
            <a:avLst>
              <a:gd name="adj" fmla="val 8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BB5BE"/>
                </a:solidFill>
                <a:latin typeface="Cambria"/>
              </a:rPr>
              <a:t>Maximum Entropy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nsolas"/>
              </a:rPr>
              <a:t>Loss = CTC  −  λ · H(p)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A87C"/>
                </a:solidFill>
                <a:latin typeface="Consolas"/>
              </a:rPr>
              <a:t>H(p) = −Σ pᵥ log pᵥ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0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C86E"/>
                </a:solidFill>
                <a:latin typeface="Calibri"/>
              </a:rPr>
              <a:t>Properties: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319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Weights penalty by predicted probability 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43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Pushes confident tokens toward uniform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548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B5BE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7548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Listed in lecture 8 "Topics You Can Try"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74519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96379"/>
                </a:solidFill>
                <a:latin typeface="Cambria"/>
              </a:rPr>
              <a:t>Label Smoothing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14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nsolas"/>
              </a:rPr>
              <a:t>Loss = (1−α) · CTC  +  α · LS(p)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71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A87C"/>
                </a:solidFill>
                <a:latin typeface="Consolas"/>
              </a:rPr>
              <a:t>LS(p) = −(1/V) Σ log pᵥ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520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C86E"/>
                </a:solidFill>
                <a:latin typeface="Calibri"/>
              </a:rPr>
              <a:t>Properties: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9319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96379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9319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Weights penalty uniformly across vocab (1/V)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343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96379"/>
                </a:solidFill>
                <a:latin typeface="Calibr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343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Equivalent to KL(uniform ∥ p) up to constant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7548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96379"/>
                </a:solidFill>
                <a:latin typeface="Calibri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47548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Reported as part of lab's MoChA paper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C86E"/>
                </a:solidFill>
                <a:latin typeface="Cambria"/>
              </a:rPr>
              <a:t>→ Closely related (Pereyra et al. 2017) but mathematically distinct.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54864" cy="320040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47120" cy="475488"/>
          </a:xfrm>
          <a:prstGeom prst="rect">
            <a:avLst/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BB5BE"/>
                </a:solidFill>
                <a:latin typeface="Calibri"/>
              </a:rPr>
              <a:t>Pretrained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276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facebook/wav2vec2-base (95M params)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11247120" cy="475488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305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BB5BE"/>
                </a:solidFill>
                <a:latin typeface="Calibri"/>
              </a:rPr>
              <a:t>Train 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13055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LibriLight 1-hour subset (WebDataset, 5 shards)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47120" cy="475488"/>
          </a:xfrm>
          <a:prstGeom prst="rect">
            <a:avLst/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334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BB5BE"/>
                </a:solidFill>
                <a:latin typeface="Calibri"/>
              </a:rPr>
              <a:t>Eval 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33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test-clean (2620 utt) / test-other (2939 utt)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247120" cy="475488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36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BB5BE"/>
                </a:solidFill>
                <a:latin typeface="Calibri"/>
              </a:rPr>
              <a:t>Training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13639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2000 (~222 epochs on 1h set)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11247120" cy="475488"/>
          </a:xfrm>
          <a:prstGeom prst="rect">
            <a:avLst/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3931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BB5BE"/>
                </a:solidFill>
                <a:latin typeface="Calibri"/>
              </a:rPr>
              <a:t>Optimizer / LR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6393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AdamW, lr=1e-4, warmup 500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69080"/>
            <a:ext cx="11247120" cy="475488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1422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BB5BE"/>
                </a:solidFill>
                <a:latin typeface="Calibri"/>
              </a:rPr>
              <a:t>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1422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16 × grad_accum 2 = effective 32, fp16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72000"/>
            <a:ext cx="11247120" cy="475488"/>
          </a:xfrm>
          <a:prstGeom prst="rect">
            <a:avLst/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45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BB5BE"/>
                </a:solidFill>
                <a:latin typeface="Calibri"/>
              </a:rPr>
              <a:t>Frozen modules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64515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CNN feature encoder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074920"/>
            <a:ext cx="11247120" cy="475488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14807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BB5BE"/>
                </a:solidFill>
                <a:latin typeface="Calibri"/>
              </a:rPr>
              <a:t>Hardware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1480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onsolas"/>
              </a:rPr>
              <a:t>RTX 3090 (24 GB), ~35 min per run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C86E"/>
                </a:solidFill>
                <a:latin typeface="Cambria"/>
              </a:rPr>
              <a:t>Each variant (baseline / MaxEnt λ / Label Smoothing α) trained with identical settings for fair comparison.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54864" cy="320040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Main Comparison — Word Error Rate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47120" cy="502920"/>
          </a:xfrm>
          <a:prstGeom prst="rect">
            <a:avLst/>
          </a:prstGeom>
          <a:solidFill>
            <a:srgbClr val="33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test-clean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test-other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162763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Δ vs 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11247120" cy="59436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2199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Baseline (CTC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2219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onsolas"/>
              </a:rPr>
              <a:t>21.16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2219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onsolas"/>
              </a:rPr>
              <a:t>30.17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222199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999999"/>
                </a:solidFill>
                <a:latin typeface="Consolas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1247120" cy="59436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6207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Maximum Entropy (λ = 0.10)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620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onsolas"/>
              </a:rPr>
              <a:t>19.93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8620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onsolas"/>
              </a:rPr>
              <a:t>28.80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8620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B5BE"/>
                </a:solidFill>
                <a:latin typeface="Consolas"/>
              </a:rPr>
              <a:t>−1.37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383279"/>
            <a:ext cx="11247120" cy="594360"/>
          </a:xfrm>
          <a:prstGeom prst="rect">
            <a:avLst/>
          </a:prstGeom>
          <a:solidFill>
            <a:srgbClr val="4A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02151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5C86E"/>
                </a:solidFill>
                <a:latin typeface="Calibri"/>
              </a:rPr>
              <a:t>Label Smoothing (α = 0.10)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5021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E8A87C"/>
                </a:solidFill>
                <a:latin typeface="Consolas"/>
              </a:rPr>
              <a:t>19.51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502151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E8A87C"/>
                </a:solidFill>
                <a:latin typeface="Consolas"/>
              </a:rPr>
              <a:t>28.30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3502151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B5BE"/>
                </a:solidFill>
                <a:latin typeface="Consolas"/>
              </a:rPr>
              <a:t>−1.87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BB5BE"/>
                </a:solidFill>
                <a:latin typeface="Cambria"/>
              </a:rPr>
              <a:t>Takeaways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● Both regularizers </a:t>
            </a:r>
            <a:r>
              <a:rPr sz="1400" b="1" i="0">
                <a:solidFill>
                  <a:srgbClr val="E8A87C"/>
                </a:solidFill>
                <a:latin typeface="Calibri"/>
              </a:rPr>
              <a:t>beat baseline by &gt; 1 pp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on both splits.
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● Label Smoothing &gt; MaxEnt by </a:t>
            </a:r>
            <a:r>
              <a:rPr sz="1400" b="1" i="0">
                <a:solidFill>
                  <a:srgbClr val="F5C86E"/>
                </a:solidFill>
                <a:latin typeface="Calibri"/>
              </a:rPr>
              <a:t>0.42 pp (clean) / 0.50 pp (other)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.
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● Larger improvement on </a:t>
            </a:r>
            <a:r>
              <a:rPr sz="1400" b="1" i="0">
                <a:solidFill>
                  <a:srgbClr val="E96379"/>
                </a:solidFill>
                <a:latin typeface="Calibri"/>
              </a:rPr>
              <a:t>test-other (harder set)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— regularization helps generalization most where it matters.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54864" cy="320040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Maximum Entropy — λ Sweep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943600" cy="502920"/>
          </a:xfrm>
          <a:prstGeom prst="rect">
            <a:avLst/>
          </a:prstGeom>
          <a:solidFill>
            <a:srgbClr val="33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6276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test-clean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6276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test-other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5943600" cy="4572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6712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0.00 (baseline)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1671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21.16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671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30.17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06039"/>
            <a:ext cx="5943600" cy="4572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70047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0.01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670047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20.60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70047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29.67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08960"/>
            <a:ext cx="5943600" cy="4572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729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0.03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1729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20.79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29.65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11880"/>
            <a:ext cx="5943600" cy="4572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67588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0.05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367588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21.21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7588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30.46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114800"/>
            <a:ext cx="5943600" cy="4572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7880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0.07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1788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20.93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788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onsolas"/>
              </a:rPr>
              <a:t>29.80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617720"/>
            <a:ext cx="5943600" cy="457200"/>
          </a:xfrm>
          <a:prstGeom prst="rect">
            <a:avLst/>
          </a:prstGeom>
          <a:solidFill>
            <a:srgbClr val="4A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68172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5C86E"/>
                </a:solidFill>
                <a:latin typeface="Consolas"/>
              </a:rPr>
              <a:t>0.10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46817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E8A87C"/>
                </a:solidFill>
                <a:latin typeface="Consolas"/>
              </a:rPr>
              <a:t>19.93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6817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E8A87C"/>
                </a:solidFill>
                <a:latin typeface="Consolas"/>
              </a:rPr>
              <a:t>28.80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1554480"/>
            <a:ext cx="4754880" cy="4114800"/>
          </a:xfrm>
          <a:prstGeom prst="roundRect">
            <a:avLst>
              <a:gd name="adj" fmla="val 8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BB5BE"/>
                </a:solidFill>
                <a:latin typeface="Cambria"/>
              </a:rPr>
              <a:t>Observations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21945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A87C"/>
                </a:solidFill>
                <a:latin typeface="Calibr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21945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87C"/>
                </a:solidFill>
                <a:latin typeface="Calibri"/>
              </a:rPr>
              <a:t>Small λ (0.01–0.03)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gives modest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26974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A87C"/>
                </a:solidFill>
                <a:latin typeface="Calibri"/>
              </a:rP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87C"/>
                </a:solidFill>
                <a:latin typeface="Calibri"/>
              </a:rPr>
              <a:t>λ = 0.05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actually hurts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3200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A87C"/>
                </a:solidFill>
                <a:latin typeface="Calibri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32004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87C"/>
                </a:solidFill>
                <a:latin typeface="Calibri"/>
              </a:rPr>
              <a:t>λ = 0.07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recovers, but not best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78040" y="37033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A87C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37033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87C"/>
                </a:solidFill>
                <a:latin typeface="Calibri"/>
              </a:rPr>
              <a:t>λ = 0.10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achieves the lowest WER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4434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C86E"/>
                </a:solidFill>
                <a:latin typeface="Cambria"/>
              </a:rPr>
              <a:t>Best operating point: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4800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onsolas"/>
              </a:rPr>
              <a:t>λ = 0.10 → 19.93 / 28.80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5166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mbria"/>
              </a:rPr>
              <a:t>Used as MaxEnt baseline in slide 7.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54864" cy="320040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Why Label Smoothing &gt; MaxEnt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1247120" cy="1463040"/>
          </a:xfrm>
          <a:prstGeom prst="roundRect">
            <a:avLst>
              <a:gd name="adj" fmla="val 8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BB5BE"/>
                </a:solidFill>
                <a:latin typeface="Cambria"/>
              </a:rPr>
              <a:t>Same family, different weighting: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8A87C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8A87C"/>
                </a:solidFill>
                <a:latin typeface="Calibri"/>
              </a:rPr>
              <a:t>MaxEnt: </a:t>
            </a:r>
            <a:r>
              <a:rPr sz="1400" b="0" i="0">
                <a:solidFill>
                  <a:srgbClr val="FFFFFF"/>
                </a:solidFill>
                <a:latin typeface="Consolas"/>
              </a:rPr>
              <a:t>H(p) = −Σ pᵥ log pᵥ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  →  weights by pᵥ — already-confident tokens get pushed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96379"/>
                </a:solidFill>
                <a:latin typeface="Calibri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23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96379"/>
                </a:solidFill>
                <a:latin typeface="Calibri"/>
              </a:rPr>
              <a:t>LS:     </a:t>
            </a:r>
            <a:r>
              <a:rPr sz="1400" b="0" i="0">
                <a:solidFill>
                  <a:srgbClr val="FFFFFF"/>
                </a:solidFill>
                <a:latin typeface="Consolas"/>
              </a:rPr>
              <a:t>LS(p) = −(1/V) Σ log pᵥ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  →  uniform weight across vocab — all tokens regularized equally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11247120" cy="274320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5BB5BE"/>
                </a:solidFill>
                <a:latin typeface="Cambria"/>
              </a:rPr>
              <a:t>Qualitative example (test-clean utterance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033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5C86E"/>
                </a:solidFill>
                <a:latin typeface="Consolas"/>
              </a:rPr>
              <a:t>REF: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033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nsolas"/>
              </a:rPr>
              <a:t>... THEORY OF </a:t>
            </a:r>
            <a:r>
              <a:rPr sz="1200" b="1" i="0">
                <a:solidFill>
                  <a:srgbClr val="E8A87C"/>
                </a:solidFill>
                <a:latin typeface="Consolas"/>
              </a:rPr>
              <a:t>MEMORY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MUST </a:t>
            </a:r>
            <a:r>
              <a:rPr sz="1200" b="1" i="0">
                <a:solidFill>
                  <a:srgbClr val="E8A87C"/>
                </a:solidFill>
                <a:latin typeface="Consolas"/>
              </a:rPr>
              <a:t>ARRIVE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AT ... </a:t>
            </a:r>
            <a:r>
              <a:rPr sz="1200" b="1" i="0">
                <a:solidFill>
                  <a:srgbClr val="E8A87C"/>
                </a:solidFill>
                <a:latin typeface="Consolas"/>
              </a:rPr>
              <a:t>VIRTUE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... </a:t>
            </a:r>
            <a:r>
              <a:rPr sz="1200" b="1" i="0">
                <a:solidFill>
                  <a:srgbClr val="E8A87C"/>
                </a:solidFill>
                <a:latin typeface="Consolas"/>
              </a:rPr>
              <a:t>SINGLED OUT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96379"/>
                </a:solidFill>
                <a:latin typeface="Consolas"/>
              </a:rPr>
              <a:t>Baseline: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2062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nsolas"/>
              </a:rPr>
              <a:t>... THEORY OF MEMERY MUST </a:t>
            </a:r>
            <a:r>
              <a:rPr sz="1200" b="1" i="0">
                <a:solidFill>
                  <a:srgbClr val="E96379"/>
                </a:solidFill>
                <a:latin typeface="Consolas"/>
              </a:rPr>
              <a:t>ARIVE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AT ... </a:t>
            </a:r>
            <a:r>
              <a:rPr sz="1200" b="1" i="0">
                <a:solidFill>
                  <a:srgbClr val="E96379"/>
                </a:solidFill>
                <a:latin typeface="Consolas"/>
              </a:rPr>
              <a:t>VERTUE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... </a:t>
            </a:r>
            <a:r>
              <a:rPr sz="1200" b="1" i="0">
                <a:solidFill>
                  <a:srgbClr val="E96379"/>
                </a:solidFill>
                <a:latin typeface="Consolas"/>
              </a:rPr>
              <a:t>SINGLEDOUT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5BB5BE"/>
                </a:solidFill>
                <a:latin typeface="Consolas"/>
              </a:rPr>
              <a:t>LS α=0.10: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091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nsolas"/>
              </a:rPr>
              <a:t>... THEORY OF MEMERY MUST </a:t>
            </a:r>
            <a:r>
              <a:rPr sz="1200" b="1" i="0">
                <a:solidFill>
                  <a:srgbClr val="5BB5BE"/>
                </a:solidFill>
                <a:latin typeface="Consolas"/>
              </a:rPr>
              <a:t>ARRIVE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AT ... </a:t>
            </a:r>
            <a:r>
              <a:rPr sz="1200" b="1" i="0">
                <a:solidFill>
                  <a:srgbClr val="5BB5BE"/>
                </a:solidFill>
                <a:latin typeface="Consolas"/>
              </a:rPr>
              <a:t>VIRTUE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... </a:t>
            </a:r>
            <a:r>
              <a:rPr sz="1200" b="1" i="0">
                <a:solidFill>
                  <a:srgbClr val="5BB5BE"/>
                </a:solidFill>
                <a:latin typeface="Consolas"/>
              </a:rPr>
              <a:t>SINGLED OUT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 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5C86E"/>
                </a:solidFill>
                <a:latin typeface="Cambria"/>
              </a:rPr>
              <a:t>→ Spelling errors (ARIVE, VERTUE) and spacing (SINGLEDOUT) corrected by Label Smoothing.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5BB5BE"/>
                </a:solidFill>
                <a:latin typeface="Cambria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47120" cy="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645920"/>
            <a:ext cx="731520" cy="731520"/>
          </a:xfrm>
          <a:prstGeom prst="ellipse">
            <a:avLst/>
          </a:prstGeom>
          <a:solidFill>
            <a:srgbClr val="5BB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09928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463040"/>
            <a:ext cx="10058400" cy="118872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002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8A87C"/>
                </a:solidFill>
                <a:latin typeface="Cambria"/>
              </a:rPr>
              <a:t>Two regularizers compared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57400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Maximum Entropy (H(p)) and Label Smoothing (uniform target). Both target the over-confidence problem on small fine-tune sets.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63240"/>
            <a:ext cx="731520" cy="731520"/>
          </a:xfrm>
          <a:prstGeom prst="ellipse">
            <a:avLst/>
          </a:prstGeom>
          <a:solidFill>
            <a:srgbClr val="5BB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2880360"/>
            <a:ext cx="10058400" cy="118872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0175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8A87C"/>
                </a:solidFill>
                <a:latin typeface="Cambria"/>
              </a:rPr>
              <a:t>Label Smoothing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474720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Test-clean 19.51 % / test-other 28.30 %. Outperforms baseline by −1.65 / −1.87 pp and MaxEnt by −0.42 / −0.50 pp.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5BB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44568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4297680"/>
            <a:ext cx="10058400" cy="1188720"/>
          </a:xfrm>
          <a:prstGeom prst="roundRect">
            <a:avLst>
              <a:gd name="adj" fmla="val 8000"/>
            </a:avLst>
          </a:prstGeom>
          <a:solidFill>
            <a:srgbClr val="4E4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8A87C"/>
                </a:solidFill>
                <a:latin typeface="Cambria"/>
              </a:rPr>
              <a:t>Bigger gains where it hurts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92040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Improvement is larger on the harder test-other split — regularization helps generalization most under acoustic mismatch.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5C86E"/>
                </a:solidFill>
                <a:latin typeface="Cambria"/>
              </a:rPr>
              <a:t>Future: α sweep for Label Smoothing, SpecAugment data augmentation, LM shallow fusion.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Calibri"/>
              </a:rPr>
              <a:t>XAI 509 — Wav2Vec2 CTC Fine-Tuning 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2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>
                <a:solidFill>
                  <a:srgbClr val="5BB5BE"/>
                </a:solidFill>
                <a:latin typeface="Cambria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  <a:latin typeface="Consolas"/>
              </a:rPr>
              <a:t>Code &amp; results: /run/models/, /run/results/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